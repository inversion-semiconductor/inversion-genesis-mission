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7" r:id="rId3"/>
    <p:sldId id="278" r:id="rId4"/>
    <p:sldId id="279" r:id="rId5"/>
    <p:sldId id="280" r:id="rId6"/>
    <p:sldId id="281" r:id="rId7"/>
    <p:sldId id="283" r:id="rId8"/>
    <p:sldId id="267" r:id="rId9"/>
    <p:sldId id="268" r:id="rId10"/>
    <p:sldId id="292" r:id="rId11"/>
    <p:sldId id="266" r:id="rId12"/>
    <p:sldId id="277" r:id="rId13"/>
    <p:sldId id="285" r:id="rId14"/>
    <p:sldId id="271" r:id="rId15"/>
    <p:sldId id="272" r:id="rId16"/>
    <p:sldId id="269" r:id="rId17"/>
    <p:sldId id="291" r:id="rId18"/>
    <p:sldId id="293" r:id="rId19"/>
    <p:sldId id="294" r:id="rId20"/>
    <p:sldId id="288" r:id="rId21"/>
    <p:sldId id="289" r:id="rId22"/>
    <p:sldId id="29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0">
          <p15:clr>
            <a:srgbClr val="A4A3A4"/>
          </p15:clr>
        </p15:guide>
        <p15:guide id="2" pos="24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7" autoAdjust="0"/>
    <p:restoredTop sz="94902" autoAdjust="0"/>
  </p:normalViewPr>
  <p:slideViewPr>
    <p:cSldViewPr snapToGrid="0" snapToObjects="1" showGuides="1">
      <p:cViewPr varScale="1">
        <p:scale>
          <a:sx n="144" d="100"/>
          <a:sy n="144" d="100"/>
        </p:scale>
        <p:origin x="1480" y="184"/>
      </p:cViewPr>
      <p:guideLst>
        <p:guide orient="horz" pos="2930"/>
        <p:guide pos="24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BF40-FED8-D140-82CD-AD436E95898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B0595-8596-244A-80CF-D394AF625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5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X63 – 618, 130 mm, right: 58 pixels from 21.5mm, 7.9 mm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B0595-8596-244A-80CF-D394AF625B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68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X: 644, 71, 160 mm, right: 9 pixel from 332.4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B0595-8596-244A-80CF-D394AF625B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58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658-85=573 pixel, 160mm, 0.279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B0595-8596-244A-80CF-D394AF625B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1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7/10/2018, Jeroen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B0595-8596-244A-80CF-D394AF625B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picture</a:t>
            </a:r>
            <a:r>
              <a:rPr lang="en-US" baseline="0" dirty="0"/>
              <a:t> is 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B0595-8596-244A-80CF-D394AF625B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6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89FCA-D3B9-2F44-B808-CA2CDD2BC241}" type="datetimeFigureOut">
              <a:rPr lang="en-US" altLang="ja-JP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FD142-DB89-9740-BB9B-44F036138A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jpe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852" y="2130425"/>
            <a:ext cx="8458200" cy="1470025"/>
          </a:xfrm>
        </p:spPr>
        <p:txBody>
          <a:bodyPr>
            <a:normAutofit/>
          </a:bodyPr>
          <a:lstStyle/>
          <a:p>
            <a:r>
              <a:rPr lang="en-US" dirty="0"/>
              <a:t>Staging Dutch magnet summary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3999" y="3741620"/>
            <a:ext cx="8636667" cy="290146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2018/7/1, ver. 1</a:t>
            </a:r>
          </a:p>
          <a:p>
            <a:endParaRPr lang="en-US" dirty="0"/>
          </a:p>
          <a:p>
            <a:r>
              <a:rPr lang="en-US" dirty="0"/>
              <a:t>Kei Nakamura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2018/7/1</a:t>
            </a:r>
          </a:p>
          <a:p>
            <a:pPr marL="457200" lvl="1" indent="0">
              <a:buNone/>
            </a:pPr>
            <a:r>
              <a:rPr lang="en-US" dirty="0"/>
              <a:t>Staging Dutch is now Moore Dutch 1 (2 after undulator planned)</a:t>
            </a:r>
          </a:p>
          <a:p>
            <a:r>
              <a:rPr lang="en-US" dirty="0"/>
              <a:t>2014/3/25</a:t>
            </a:r>
          </a:p>
          <a:p>
            <a:pPr marL="457200" lvl="1" indent="0">
              <a:buNone/>
            </a:pPr>
            <a:r>
              <a:rPr lang="en-US" dirty="0"/>
              <a:t>Cam1 was removed for cross calibration. Before and after this operation, camera position was saved in</a:t>
            </a:r>
          </a:p>
          <a:p>
            <a:pPr marL="457200" lvl="1" indent="0">
              <a:buNone/>
            </a:pPr>
            <a:r>
              <a:rPr lang="en-US" dirty="0"/>
              <a:t>Before: 3/21 scan4</a:t>
            </a:r>
          </a:p>
          <a:p>
            <a:pPr marL="457200" lvl="1" indent="0">
              <a:buNone/>
            </a:pPr>
            <a:r>
              <a:rPr lang="en-US" dirty="0"/>
              <a:t>After: 3/25 scan1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Before data is to confirm the drift since installation (2011). After is to measure the change due to removal and re-installation.</a:t>
            </a:r>
          </a:p>
        </p:txBody>
      </p:sp>
    </p:spTree>
    <p:extLst>
      <p:ext uri="{BB962C8B-B14F-4D97-AF65-F5344CB8AC3E}">
        <p14:creationId xmlns:p14="http://schemas.microsoft.com/office/powerpoint/2010/main" val="357173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277573-7313-1142-A110-5709D75B7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8" y="1856564"/>
            <a:ext cx="7627442" cy="28217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7/1/2018 CCD camera 1 (front)</a:t>
            </a:r>
            <a:endParaRPr lang="ja-JP" altLang="en-US" dirty="0"/>
          </a:p>
        </p:txBody>
      </p:sp>
      <p:sp>
        <p:nvSpPr>
          <p:cNvPr id="5" name="Donut 4"/>
          <p:cNvSpPr>
            <a:spLocks noChangeAspect="1"/>
          </p:cNvSpPr>
          <p:nvPr/>
        </p:nvSpPr>
        <p:spPr>
          <a:xfrm>
            <a:off x="8101452" y="2877553"/>
            <a:ext cx="703840" cy="707027"/>
          </a:xfrm>
          <a:prstGeom prst="donut">
            <a:avLst>
              <a:gd name="adj" fmla="val 826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6200000" flipH="1">
            <a:off x="6052400" y="3120651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7349137" y="3120652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148548" y="2126600"/>
            <a:ext cx="129673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12946" y="1512184"/>
            <a:ext cx="92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21.5 mm</a:t>
            </a:r>
            <a:endParaRPr kumimoji="1" lang="ja-JP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7828988" y="4170634"/>
            <a:ext cx="131501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Beam tube center</a:t>
            </a:r>
            <a:endParaRPr kumimoji="1" lang="ja-JP" altLang="en-US" sz="1600" dirty="0"/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1280485" y="2477760"/>
            <a:ext cx="46389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80485" y="2058604"/>
            <a:ext cx="83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10 mm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00019" y="4899982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130mm/555pixel, 0.234 mm/pixel</a:t>
            </a:r>
          </a:p>
          <a:p>
            <a:pPr algn="ctr"/>
            <a:r>
              <a:rPr lang="en-US" dirty="0"/>
              <a:t>Field of view (692pix) = 162.1 mm</a:t>
            </a:r>
          </a:p>
          <a:p>
            <a:pPr algn="ctr"/>
            <a:r>
              <a:rPr lang="en-US" dirty="0"/>
              <a:t>Image right edge = 7.9 mm</a:t>
            </a:r>
          </a:p>
          <a:p>
            <a:pPr algn="ctr"/>
            <a:r>
              <a:rPr lang="en-US" dirty="0"/>
              <a:t>Range: 7.9 – 170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889" y="4168762"/>
            <a:ext cx="994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X=634 pix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DAEC4D-3B85-AC4C-9E7E-BD521D1D144D}"/>
              </a:ext>
            </a:extLst>
          </p:cNvPr>
          <p:cNvSpPr txBox="1"/>
          <p:nvPr/>
        </p:nvSpPr>
        <p:spPr>
          <a:xfrm>
            <a:off x="0" y="6376807"/>
            <a:ext cx="323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Data: 2018_0628 scan 11 and 12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1157E8-2D78-E24C-90B9-B73968BD3C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4572"/>
          <a:stretch/>
        </p:blipFill>
        <p:spPr>
          <a:xfrm>
            <a:off x="5720862" y="5450815"/>
            <a:ext cx="3239541" cy="13747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52B03-7D6B-264B-9AC1-7C18EB48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77" y="2932820"/>
            <a:ext cx="7647763" cy="1657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sz="3200" dirty="0"/>
              <a:t>7/1/2018 CCD camera 2 (downstream, side)</a:t>
            </a:r>
            <a:endParaRPr lang="ja-JP" alt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6587329" y="1977613"/>
            <a:ext cx="230063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X=683 pix</a:t>
            </a:r>
          </a:p>
          <a:p>
            <a:r>
              <a:rPr kumimoji="1" lang="en-US" altLang="ja-JP" dirty="0"/>
              <a:t>332.4 mm from center</a:t>
            </a:r>
            <a:endParaRPr kumimoji="1" lang="ja-JP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374654" y="4859746"/>
            <a:ext cx="355382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160mm/573pixel, 0.279 mm/pixel</a:t>
            </a:r>
          </a:p>
          <a:p>
            <a:pPr algn="ctr"/>
            <a:r>
              <a:rPr lang="en-US" dirty="0"/>
              <a:t>Field of view = 193.2 mm</a:t>
            </a:r>
          </a:p>
          <a:p>
            <a:pPr algn="ctr"/>
            <a:r>
              <a:rPr lang="en-US" dirty="0"/>
              <a:t>Range: 141.7 – 334.9 mm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6966323" y="3763599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6772" y="2031136"/>
            <a:ext cx="33089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150.2 mm from center of magnet</a:t>
            </a:r>
            <a:endParaRPr kumimoji="1" lang="ja-JP" alt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378830" y="2761440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914AC9-72CB-9041-9361-03EA90DDB637}"/>
              </a:ext>
            </a:extLst>
          </p:cNvPr>
          <p:cNvSpPr txBox="1"/>
          <p:nvPr/>
        </p:nvSpPr>
        <p:spPr>
          <a:xfrm>
            <a:off x="-10886" y="6474781"/>
            <a:ext cx="323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Data: 2018_0628 scan 11 and 12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F42853-3FDE-5B40-B42D-87BEAF0270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594" t="674" r="30971" b="-674"/>
          <a:stretch/>
        </p:blipFill>
        <p:spPr>
          <a:xfrm>
            <a:off x="5720863" y="5450815"/>
            <a:ext cx="2965938" cy="13747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BDD711-EF29-1D4A-A588-4F39FFC0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2678515"/>
            <a:ext cx="8788400" cy="190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7/1/2018 CCD camera 3 (upstream, side)</a:t>
            </a:r>
            <a:endParaRPr lang="ja-JP" alt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5437937" y="1476056"/>
            <a:ext cx="33137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X=657 pix</a:t>
            </a:r>
          </a:p>
          <a:p>
            <a:r>
              <a:rPr kumimoji="1" lang="en-US" altLang="ja-JP" dirty="0"/>
              <a:t>150.2 mm from center of magnet</a:t>
            </a:r>
            <a:endParaRPr kumimoji="1" lang="ja-JP" alt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rot="16200000" flipH="1">
            <a:off x="7942228" y="2312271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17807" y="4620846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160mm/573pixel, 0.279 mm/pixel</a:t>
            </a:r>
          </a:p>
          <a:p>
            <a:pPr algn="ctr"/>
            <a:r>
              <a:rPr lang="en-US" dirty="0"/>
              <a:t>Field of view = 193.2 mm</a:t>
            </a:r>
          </a:p>
          <a:p>
            <a:pPr algn="ctr"/>
            <a:r>
              <a:rPr lang="en-US" dirty="0"/>
              <a:t>Range: -33.2 – 160 mm</a:t>
            </a:r>
          </a:p>
          <a:p>
            <a:pPr algn="ctr"/>
            <a:r>
              <a:rPr lang="en-US" dirty="0"/>
              <a:t>Save ROI: top 184, height 130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F914E-9F03-2049-BBA9-B7139DAFF08F}"/>
              </a:ext>
            </a:extLst>
          </p:cNvPr>
          <p:cNvSpPr txBox="1"/>
          <p:nvPr/>
        </p:nvSpPr>
        <p:spPr>
          <a:xfrm>
            <a:off x="-10886" y="6474781"/>
            <a:ext cx="323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Data: 2018_0628 scan 11 and 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310AF5-741E-B340-878E-BE47C83D06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938" t="28295" r="1216" b="334"/>
          <a:stretch/>
        </p:blipFill>
        <p:spPr>
          <a:xfrm>
            <a:off x="6049108" y="5038560"/>
            <a:ext cx="2637692" cy="981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Chamber is 5.7 mm too deep in the yoke</a:t>
            </a:r>
            <a:endParaRPr lang="ja-JP" altLang="en-US" sz="3600" dirty="0"/>
          </a:p>
        </p:txBody>
      </p:sp>
      <p:pic>
        <p:nvPicPr>
          <p:cNvPr id="4" name="Picture 3" descr="スクリーンショット（2012-03-19 13.06.26）.png"/>
          <p:cNvPicPr>
            <a:picLocks noChangeAspect="1"/>
          </p:cNvPicPr>
          <p:nvPr/>
        </p:nvPicPr>
        <p:blipFill>
          <a:blip r:embed="rId3"/>
          <a:srcRect b="24192"/>
          <a:stretch>
            <a:fillRect/>
          </a:stretch>
        </p:blipFill>
        <p:spPr>
          <a:xfrm>
            <a:off x="0" y="2574063"/>
            <a:ext cx="4826726" cy="2748099"/>
          </a:xfrm>
          <a:prstGeom prst="rect">
            <a:avLst/>
          </a:prstGeom>
        </p:spPr>
      </p:pic>
      <p:pic>
        <p:nvPicPr>
          <p:cNvPr id="5" name="Picture 4" descr="Measured distances for chamber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26" y="2148113"/>
            <a:ext cx="4127506" cy="3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1214" y="1618777"/>
            <a:ext cx="105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Designed</a:t>
            </a:r>
            <a:endParaRPr kumimoji="1" lang="ja-JP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97885" y="1586511"/>
            <a:ext cx="113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Measured</a:t>
            </a:r>
            <a:endParaRPr kumimoji="1" lang="ja-JP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3D0E6-9C64-8847-A295-0B8FDAD48410}"/>
              </a:ext>
            </a:extLst>
          </p:cNvPr>
          <p:cNvSpPr txBox="1"/>
          <p:nvPr/>
        </p:nvSpPr>
        <p:spPr>
          <a:xfrm>
            <a:off x="5865340" y="3352800"/>
            <a:ext cx="955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Probe holder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68989-3D60-6A4D-9D59-17F015BF3CF5}"/>
              </a:ext>
            </a:extLst>
          </p:cNvPr>
          <p:cNvSpPr/>
          <p:nvPr/>
        </p:nvSpPr>
        <p:spPr>
          <a:xfrm>
            <a:off x="4695568" y="2574063"/>
            <a:ext cx="815546" cy="3338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764D-658B-4740-92AF-C12EB9979553}"/>
              </a:ext>
            </a:extLst>
          </p:cNvPr>
          <p:cNvSpPr txBox="1"/>
          <p:nvPr/>
        </p:nvSpPr>
        <p:spPr>
          <a:xfrm>
            <a:off x="6474636" y="3740636"/>
            <a:ext cx="63908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129.2mm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457200" y="2507618"/>
            <a:ext cx="6510528" cy="1554480"/>
          </a:xfrm>
          <a:prstGeom prst="rect">
            <a:avLst/>
          </a:prstGeom>
          <a:ln/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b="1" dirty="0"/>
              <a:t>Chamber (screen)</a:t>
            </a:r>
          </a:p>
          <a:p>
            <a:pPr algn="ctr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line and screen </a:t>
            </a:r>
            <a:r>
              <a:rPr lang="en-US" dirty="0" err="1"/>
              <a:t>wrt</a:t>
            </a:r>
            <a:r>
              <a:rPr lang="en-US" dirty="0"/>
              <a:t> the magnet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7381" y="2197787"/>
            <a:ext cx="4608576" cy="131673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4000"/>
                </a:schemeClr>
              </a:gs>
            </a:gsLst>
            <a:lin ang="16200000" scaled="0"/>
            <a:tileRect/>
          </a:gradFill>
          <a:ln>
            <a:solidFill>
              <a:schemeClr val="accent1">
                <a:shade val="95000"/>
                <a:satMod val="105000"/>
                <a:alpha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		</a:t>
            </a:r>
          </a:p>
          <a:p>
            <a:endParaRPr lang="en-US" b="1" dirty="0"/>
          </a:p>
          <a:p>
            <a:r>
              <a:rPr lang="en-US" b="1" dirty="0"/>
              <a:t>Pole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37081" y="2900241"/>
            <a:ext cx="5079696" cy="23439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53351" y="2667007"/>
            <a:ext cx="832634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90924" y="2611181"/>
            <a:ext cx="90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Z[mm]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2017" y="4217537"/>
            <a:ext cx="53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+</a:t>
            </a:r>
            <a:r>
              <a:rPr lang="en-US" dirty="0" err="1">
                <a:solidFill>
                  <a:srgbClr val="FF6600"/>
                </a:solidFill>
              </a:rPr>
              <a:t>x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741874"/>
            <a:ext cx="832063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</a:t>
            </a:r>
          </a:p>
          <a:p>
            <a:r>
              <a:rPr lang="en-US" dirty="0"/>
              <a:t>Magnet can float with respect to the chamber (magnet center can have offset with respect to the beam line).</a:t>
            </a:r>
          </a:p>
          <a:p>
            <a:r>
              <a:rPr lang="en-US" dirty="0"/>
              <a:t>The chamber defines the beam line and screen location.</a:t>
            </a:r>
          </a:p>
          <a:p>
            <a:r>
              <a:rPr lang="en-US" dirty="0"/>
              <a:t>Front screen is at z =354.6 mm, and side screen is at x = 170 mm.</a:t>
            </a:r>
          </a:p>
          <a:p>
            <a:r>
              <a:rPr lang="en-US" dirty="0"/>
              <a:t>The chamber end-end is 27.925” = 709.3mm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4838" y="2845496"/>
            <a:ext cx="96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Xm</a:t>
            </a:r>
            <a:r>
              <a:rPr lang="en-US" dirty="0">
                <a:solidFill>
                  <a:srgbClr val="FF6600"/>
                </a:solidFill>
              </a:rPr>
              <a:t>=5.7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2931" y="2300263"/>
            <a:ext cx="15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Beam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1045" y="3718672"/>
            <a:ext cx="119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170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97" y="2578259"/>
            <a:ext cx="30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0356" y="2618162"/>
            <a:ext cx="73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354.6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25" y="2591952"/>
            <a:ext cx="93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-354.6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1840" y="2845496"/>
            <a:ext cx="165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Magnet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7659" y="2587154"/>
            <a:ext cx="73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5218" y="2577935"/>
            <a:ext cx="73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-240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3036" y="2197338"/>
            <a:ext cx="220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6600"/>
                </a:solidFill>
              </a:rPr>
              <a:t>20.5 (chamber wall)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97729" y="1421891"/>
            <a:ext cx="4608576" cy="27820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4000"/>
                </a:schemeClr>
              </a:gs>
            </a:gsLst>
            <a:lin ang="16200000" scaled="0"/>
            <a:tileRect/>
          </a:gradFill>
          <a:ln>
            <a:solidFill>
              <a:schemeClr val="accent1">
                <a:shade val="95000"/>
                <a:satMod val="105000"/>
                <a:alpha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Yoke wall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5875472" y="1700095"/>
            <a:ext cx="3234" cy="80752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26622" y="1688984"/>
            <a:ext cx="2786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129.2 (134.9mm when </a:t>
            </a:r>
          </a:p>
          <a:p>
            <a:r>
              <a:rPr lang="en-US" dirty="0">
                <a:solidFill>
                  <a:srgbClr val="FF6600"/>
                </a:solidFill>
              </a:rPr>
              <a:t>beam line = magnet center)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4228" y="3035604"/>
            <a:ext cx="118567" cy="912509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 rot="5400000">
            <a:off x="3650088" y="984528"/>
            <a:ext cx="118567" cy="6135895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5" name="Straight Arrow Connector 14"/>
          <p:cNvCxnSpPr>
            <a:stCxn id="30" idx="2"/>
          </p:cNvCxnSpPr>
          <p:nvPr/>
        </p:nvCxnSpPr>
        <p:spPr>
          <a:xfrm>
            <a:off x="3702017" y="1700095"/>
            <a:ext cx="8858" cy="2928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74487" y="2806756"/>
            <a:ext cx="60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6600"/>
                </a:solidFill>
              </a:rPr>
              <a:t>21.5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3456" y="3702388"/>
            <a:ext cx="76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6600"/>
                </a:solidFill>
              </a:rPr>
              <a:t>157.2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0214" y="4025215"/>
            <a:ext cx="73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332.4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698" y="4030577"/>
            <a:ext cx="81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</a:rPr>
              <a:t>-332.4</a:t>
            </a:r>
          </a:p>
        </p:txBody>
      </p:sp>
    </p:spTree>
    <p:extLst>
      <p:ext uri="{BB962C8B-B14F-4D97-AF65-F5344CB8AC3E}">
        <p14:creationId xmlns:p14="http://schemas.microsoft.com/office/powerpoint/2010/main" val="44851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field ~1600 </a:t>
            </a:r>
            <a:r>
              <a:rPr lang="en-US" dirty="0" err="1"/>
              <a:t>mT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58" y="1417638"/>
            <a:ext cx="5850648" cy="3983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2737" y="5792376"/>
            <a:ext cx="6735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Magnetic field is always monitored/recorded by a Hall probe.</a:t>
            </a:r>
          </a:p>
          <a:p>
            <a:r>
              <a:rPr lang="en-US" dirty="0"/>
              <a:t>Control for the power supply is …</a:t>
            </a:r>
          </a:p>
          <a:p>
            <a:r>
              <a:rPr lang="en-US" dirty="0"/>
              <a:t>Data: server/TREXResources/calibration/DutchMag/100722BIScan.xlsx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887" y="274638"/>
            <a:ext cx="142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NOT updated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field size 144.4 </a:t>
            </a:r>
            <a:r>
              <a:rPr lang="en-US" dirty="0" err="1"/>
              <a:t>x</a:t>
            </a:r>
            <a:r>
              <a:rPr lang="en-US" dirty="0"/>
              <a:t> 504.4 mm^2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25720" y="2172790"/>
            <a:ext cx="4800600" cy="29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69822" y="206484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Effective boundary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712822" y="3391990"/>
            <a:ext cx="1905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Effective boundary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255622" y="2782390"/>
            <a:ext cx="1593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Magnet edge</a:t>
            </a: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5798422" y="2934790"/>
            <a:ext cx="4651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6179422" y="3544390"/>
            <a:ext cx="4651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5798422" y="4230190"/>
            <a:ext cx="265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798422" y="4230190"/>
            <a:ext cx="398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4839572" y="5131890"/>
          <a:ext cx="28479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Equation" r:id="rId4" imgW="1981200" imgH="520700" progId="Equation.3">
                  <p:embed/>
                </p:oleObj>
              </mc:Choice>
              <mc:Fallback>
                <p:oleObj name="Equation" r:id="rId4" imgW="1981200" imgH="520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572" y="5131890"/>
                        <a:ext cx="28479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5188822" y="377299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417422" y="3696790"/>
            <a:ext cx="398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6680" y="2471638"/>
            <a:ext cx="4165584" cy="3708400"/>
            <a:chOff x="131778" y="1955800"/>
            <a:chExt cx="4668822" cy="4298950"/>
          </a:xfrm>
        </p:grpSpPr>
        <p:pic>
          <p:nvPicPr>
            <p:cNvPr id="15" name="Picture 1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8625" y="2190750"/>
              <a:ext cx="4371975" cy="4064000"/>
            </a:xfrm>
            <a:prstGeom prst="rect">
              <a:avLst/>
            </a:prstGeom>
            <a:noFill/>
          </p:spPr>
        </p:pic>
        <p:sp>
          <p:nvSpPr>
            <p:cNvPr id="16" name="Rectangle 15"/>
            <p:cNvSpPr>
              <a:spLocks noChangeAspect="1" noChangeArrowheads="1"/>
            </p:cNvSpPr>
            <p:nvPr/>
          </p:nvSpPr>
          <p:spPr bwMode="auto">
            <a:xfrm flipV="1">
              <a:off x="868362" y="2609850"/>
              <a:ext cx="3429000" cy="85090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1624012" y="2870200"/>
              <a:ext cx="2057400" cy="428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ym typeface="Math1" pitchFamily="2" charset="2"/>
                </a:rPr>
                <a:t>12 cm</a:t>
              </a:r>
              <a:r>
                <a:rPr lang="en-US">
                  <a:sym typeface="Symbol" pitchFamily="-110" charset="2"/>
                </a:rPr>
                <a:t> </a:t>
              </a:r>
              <a:r>
                <a:rPr lang="en-US"/>
                <a:t> </a:t>
              </a:r>
              <a:r>
                <a:rPr lang="en-US">
                  <a:sym typeface="Symbol" pitchFamily="-110" charset="2"/>
                </a:rPr>
                <a:t>48 cm</a:t>
              </a: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176212" y="1955800"/>
              <a:ext cx="441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176212" y="1955800"/>
              <a:ext cx="0" cy="198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131778" y="3896896"/>
              <a:ext cx="457200" cy="535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 dirty="0" err="1">
                  <a:latin typeface="Times New Roman" pitchFamily="-110" charset="0"/>
                  <a:ea typeface="Times New Roman" pitchFamily="-110" charset="0"/>
                  <a:cs typeface="Times New Roman" pitchFamily="-110" charset="0"/>
                </a:rPr>
                <a:t>x</a:t>
              </a:r>
              <a:endParaRPr lang="en-US" sz="2400" i="1" dirty="0">
                <a:latin typeface="Times New Roman" pitchFamily="-110" charset="0"/>
                <a:ea typeface="Times New Roman" pitchFamily="-110" charset="0"/>
                <a:cs typeface="Times New Roman" pitchFamily="-110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392706" y="1428278"/>
            <a:ext cx="4374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Pole size is 120 mm </a:t>
            </a:r>
            <a:r>
              <a:rPr lang="en-US" dirty="0" err="1"/>
              <a:t>x</a:t>
            </a:r>
            <a:r>
              <a:rPr lang="en-US" dirty="0"/>
              <a:t> 480 mm,</a:t>
            </a:r>
          </a:p>
          <a:p>
            <a:r>
              <a:rPr lang="en-US" dirty="0"/>
              <a:t>Effective field size is 144.4 mm </a:t>
            </a:r>
            <a:r>
              <a:rPr lang="en-US" dirty="0" err="1"/>
              <a:t>x</a:t>
            </a:r>
            <a:r>
              <a:rPr lang="en-US" dirty="0"/>
              <a:t> 504.4 mm.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70" y="6389077"/>
            <a:ext cx="718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Data: server/TREXResources/calibration/DutchMag/040330BXZScan.xlsx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B027-2FB9-0548-A991-CD99BE68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A2DB6-B8B2-7945-B9B8-DAAFEBC47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7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GeV</a:t>
            </a:r>
            <a:r>
              <a:rPr lang="en-US" dirty="0"/>
              <a:t>, 7.0256 degree, 41 mm</a:t>
            </a:r>
          </a:p>
        </p:txBody>
      </p:sp>
      <p:pic>
        <p:nvPicPr>
          <p:cNvPr id="17" name="Picture 16" descr="untitled.jpg"/>
          <p:cNvPicPr>
            <a:picLocks noChangeAspect="1"/>
          </p:cNvPicPr>
          <p:nvPr/>
        </p:nvPicPr>
        <p:blipFill>
          <a:blip r:embed="rId2"/>
          <a:srcRect l="8529" t="5090" r="14808" b="5656"/>
          <a:stretch>
            <a:fillRect/>
          </a:stretch>
        </p:blipFill>
        <p:spPr>
          <a:xfrm>
            <a:off x="188522" y="1564170"/>
            <a:ext cx="7010056" cy="37774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80436" y="2703879"/>
            <a:ext cx="74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9500" y="1880493"/>
            <a:ext cx="74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Coil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88522" y="3385505"/>
            <a:ext cx="8229600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210790" y="3404060"/>
            <a:ext cx="1588" cy="468347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36802" y="3480134"/>
            <a:ext cx="1633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Displacement @ outside of the coil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05" y="5421927"/>
            <a:ext cx="8643844" cy="7531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154" y="6242541"/>
            <a:ext cx="8157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1.7 T, it bends 2 </a:t>
            </a:r>
            <a:r>
              <a:rPr lang="en-US" dirty="0" err="1"/>
              <a:t>GeV</a:t>
            </a:r>
            <a:r>
              <a:rPr lang="en-US" dirty="0"/>
              <a:t> beam 7 degree.</a:t>
            </a:r>
          </a:p>
          <a:p>
            <a:r>
              <a:rPr lang="en-US" dirty="0"/>
              <a:t>Program: server/software/matlab/Kei/programs/elcTrajectory/dutch/dutchTrjV01.m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887" y="274638"/>
            <a:ext cx="142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NOT updated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Staging beam line design</a:t>
            </a:r>
            <a:endParaRPr lang="ja-JP" altLang="en-US" dirty="0"/>
          </a:p>
        </p:txBody>
      </p:sp>
      <p:pic>
        <p:nvPicPr>
          <p:cNvPr id="4" name="Picture 3" descr="A-Cave_2011-08-18_staging_open_plan.jpg"/>
          <p:cNvPicPr>
            <a:picLocks noChangeAspect="1"/>
          </p:cNvPicPr>
          <p:nvPr/>
        </p:nvPicPr>
        <p:blipFill>
          <a:blip r:embed="rId2"/>
          <a:srcRect r="32562" b="40528"/>
          <a:stretch>
            <a:fillRect/>
          </a:stretch>
        </p:blipFill>
        <p:spPr>
          <a:xfrm>
            <a:off x="384909" y="1968113"/>
            <a:ext cx="8301891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-Cave_2011-08-18_staging_open_plan.jpg"/>
          <p:cNvPicPr>
            <a:picLocks noChangeAspect="1"/>
          </p:cNvPicPr>
          <p:nvPr/>
        </p:nvPicPr>
        <p:blipFill rotWithShape="1">
          <a:blip r:embed="rId2"/>
          <a:srcRect l="8543" t="15359" r="36150" b="50540"/>
          <a:stretch/>
        </p:blipFill>
        <p:spPr>
          <a:xfrm rot="10800000">
            <a:off x="-9003" y="1125324"/>
            <a:ext cx="9153003" cy="3052531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 flipV="1">
            <a:off x="995137" y="2120625"/>
            <a:ext cx="2" cy="4079705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021" y="6200329"/>
            <a:ext cx="1288603" cy="646331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 [mm]</a:t>
            </a:r>
          </a:p>
          <a:p>
            <a:pPr algn="ctr"/>
            <a:r>
              <a:rPr lang="en-US" dirty="0"/>
              <a:t>Laser focus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7293629" y="2120625"/>
            <a:ext cx="0" cy="3657763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759" y="5154439"/>
            <a:ext cx="1877397" cy="646331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Z=33 [mm]</a:t>
            </a:r>
          </a:p>
          <a:p>
            <a:pPr algn="ctr"/>
            <a:r>
              <a:rPr lang="en-US" dirty="0"/>
              <a:t>Nominal cap1 exit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1322624" y="2120625"/>
            <a:ext cx="0" cy="3033814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07837" y="6192274"/>
            <a:ext cx="1872422" cy="646331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Z=96 [mm]</a:t>
            </a:r>
          </a:p>
          <a:p>
            <a:pPr algn="ctr"/>
            <a:r>
              <a:rPr lang="en-US" dirty="0"/>
              <a:t>Nominal cap2 exit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042876" y="2120625"/>
            <a:ext cx="0" cy="4071649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43026" y="4701695"/>
            <a:ext cx="1749167" cy="923330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Z=2009 [mm]</a:t>
            </a:r>
          </a:p>
          <a:p>
            <a:pPr algn="ctr"/>
            <a:r>
              <a:rPr lang="en-US" dirty="0"/>
              <a:t>Chamber input</a:t>
            </a:r>
          </a:p>
          <a:p>
            <a:pPr algn="ctr"/>
            <a:r>
              <a:rPr lang="en-US" dirty="0"/>
              <a:t>I.D. = 15.24 mm</a:t>
            </a:r>
          </a:p>
        </p:txBody>
      </p:sp>
      <p:cxnSp>
        <p:nvCxnSpPr>
          <p:cNvPr id="24" name="Straight Connector 23"/>
          <p:cNvCxnSpPr>
            <a:stCxn id="23" idx="0"/>
          </p:cNvCxnSpPr>
          <p:nvPr/>
        </p:nvCxnSpPr>
        <p:spPr>
          <a:xfrm flipH="1" flipV="1">
            <a:off x="6316922" y="2114994"/>
            <a:ext cx="688" cy="2586701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84889" y="5778388"/>
            <a:ext cx="1634299" cy="646331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Z=2363 [mm]</a:t>
            </a:r>
          </a:p>
          <a:p>
            <a:pPr algn="ctr"/>
            <a:r>
              <a:rPr lang="en-US" dirty="0"/>
              <a:t>Magnet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7221" y="4340606"/>
            <a:ext cx="91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[mm]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1543060" y="2120625"/>
            <a:ext cx="0" cy="2317154"/>
          </a:xfrm>
          <a:prstGeom prst="line">
            <a:avLst/>
          </a:prstGeom>
          <a:ln w="76200" cmpd="sng">
            <a:solidFill>
              <a:srgbClr val="1AFF1B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08038" y="4437778"/>
            <a:ext cx="1543572" cy="646331"/>
          </a:xfrm>
          <a:prstGeom prst="rect">
            <a:avLst/>
          </a:prstGeom>
          <a:solidFill>
            <a:schemeClr val="bg1"/>
          </a:solidFill>
          <a:ln>
            <a:solidFill>
              <a:srgbClr val="1AFF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Z=43 [mm]</a:t>
            </a:r>
          </a:p>
          <a:p>
            <a:pPr algn="ctr"/>
            <a:r>
              <a:rPr lang="en-US" dirty="0"/>
              <a:t>Plasma mirror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9380" y="4263929"/>
            <a:ext cx="8958312" cy="113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583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Front screen momentum-position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509" y="1504469"/>
            <a:ext cx="5928335" cy="40337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6848" y="5644416"/>
            <a:ext cx="80420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3.8645e-9*x^6 -2.5268e-6*x^5 +6.7217e-4*x^4 -0.093486*x^3 +7.2584*x^2 -310.253*</a:t>
            </a:r>
            <a:r>
              <a:rPr lang="en-US" dirty="0" err="1"/>
              <a:t>x</a:t>
            </a:r>
            <a:r>
              <a:rPr lang="en-US" dirty="0"/>
              <a:t> +6656.9</a:t>
            </a:r>
          </a:p>
          <a:p>
            <a:r>
              <a:rPr lang="en-US" dirty="0"/>
              <a:t>Data: server/</a:t>
            </a:r>
            <a:r>
              <a:rPr lang="en-US" dirty="0" err="1"/>
              <a:t>TREXResources/calibration/DutchMag/frontScreen.xlsx</a:t>
            </a:r>
            <a:endParaRPr lang="en-US" dirty="0"/>
          </a:p>
          <a:p>
            <a:r>
              <a:rPr lang="en-US" dirty="0"/>
              <a:t>Program: server/software/matlab/Kei/programs/elcTrajectory/dutch/dutchTrjV02.m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9695" y="2721239"/>
            <a:ext cx="2902780" cy="174732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3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34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6887" y="274638"/>
            <a:ext cx="142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NOT updated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screen momentum-position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390" y="1406165"/>
            <a:ext cx="6438045" cy="43869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4619" y="5968048"/>
            <a:ext cx="6871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-4.6091e-10*x^4 +166828e-7*x^3 +7.485e-4*x^2 +0.37296*</a:t>
            </a:r>
            <a:r>
              <a:rPr lang="en-US" dirty="0" err="1"/>
              <a:t>x</a:t>
            </a:r>
            <a:r>
              <a:rPr lang="en-US" dirty="0"/>
              <a:t> +66.178</a:t>
            </a:r>
          </a:p>
          <a:p>
            <a:r>
              <a:rPr lang="en-US" dirty="0"/>
              <a:t>Data: server/</a:t>
            </a:r>
            <a:r>
              <a:rPr lang="en-US" dirty="0" err="1"/>
              <a:t>TREXResources/calibration/DutchMag/sideScreen.xlsx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48270" y="2310667"/>
            <a:ext cx="1241321" cy="1460876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24000"/>
                </a:schemeClr>
              </a:gs>
              <a:gs pos="35000">
                <a:schemeClr val="accent2">
                  <a:tint val="37000"/>
                  <a:satMod val="300000"/>
                  <a:alpha val="24000"/>
                </a:schemeClr>
              </a:gs>
              <a:gs pos="100000">
                <a:schemeClr val="accent2">
                  <a:tint val="15000"/>
                  <a:satMod val="350000"/>
                  <a:alpha val="24000"/>
                </a:schemeClr>
              </a:gs>
            </a:gsLst>
            <a:lin ang="16200000" scaled="1"/>
            <a:tileRect/>
          </a:gra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45666" y="3742899"/>
            <a:ext cx="1002604" cy="697018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2000"/>
                </a:schemeClr>
              </a:gs>
              <a:gs pos="35000">
                <a:schemeClr val="accent3">
                  <a:tint val="37000"/>
                  <a:satMod val="300000"/>
                  <a:alpha val="32000"/>
                </a:schemeClr>
              </a:gs>
              <a:gs pos="100000">
                <a:schemeClr val="accent3">
                  <a:tint val="15000"/>
                  <a:satMod val="350000"/>
                  <a:alpha val="32000"/>
                </a:schemeClr>
              </a:gs>
            </a:gsLst>
            <a:lin ang="16200000" scaled="1"/>
            <a:tileRect/>
          </a:gradFill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6887" y="274638"/>
            <a:ext cx="142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NOT updated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dirty="0"/>
              <a:t>E-beam acceptance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168628" y="3108542"/>
            <a:ext cx="491308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5400000">
            <a:off x="1685415" y="3103365"/>
            <a:ext cx="135296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38277" y="1771924"/>
            <a:ext cx="98014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Laser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3848" y="3780640"/>
            <a:ext cx="45556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439427" y="3117171"/>
            <a:ext cx="135296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28845" y="3794446"/>
            <a:ext cx="104095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~1900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520" y="1554610"/>
            <a:ext cx="108127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Dutch magnet front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4600781" y="3103365"/>
            <a:ext cx="135296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07847" y="3780640"/>
            <a:ext cx="104095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~2800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5859" y="1991713"/>
            <a:ext cx="137274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Beam block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5630638" y="3117171"/>
            <a:ext cx="135296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79663" y="3789792"/>
            <a:ext cx="135894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~3100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5328" y="1553256"/>
            <a:ext cx="108127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/>
              <a:t>Dutch magnet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6445" y="4914800"/>
            <a:ext cx="594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Aperture @ Dutch magnet exit: I.D. 7/8” = 22.225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7061" y="5546538"/>
            <a:ext cx="5946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Aperture @ beam tube near entrance: I.D. = 15.24 mm</a:t>
            </a:r>
          </a:p>
          <a:p>
            <a:r>
              <a:rPr lang="en-US" dirty="0"/>
              <a:t>E-beam acceptance: 15.24/2.8 ~ 5.4 </a:t>
            </a:r>
            <a:r>
              <a:rPr lang="en-US" dirty="0" err="1"/>
              <a:t>mrad</a:t>
            </a:r>
            <a:r>
              <a:rPr lang="en-US" dirty="0"/>
              <a:t> (+/- 2.7 </a:t>
            </a:r>
            <a:r>
              <a:rPr lang="en-US" dirty="0" err="1"/>
              <a:t>mrad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3/21/2014 CCD camera 1 (front), no change was observed.</a:t>
            </a:r>
            <a:endParaRPr lang="ja-JP" altLang="en-US" dirty="0"/>
          </a:p>
        </p:txBody>
      </p:sp>
      <p:pic>
        <p:nvPicPr>
          <p:cNvPr id="4" name="Picture 3" descr="orientation-tagbottom of 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220" y="1479093"/>
            <a:ext cx="6276279" cy="4680000"/>
          </a:xfrm>
          <a:prstGeom prst="rect">
            <a:avLst/>
          </a:prstGeom>
        </p:spPr>
      </p:pic>
      <p:sp>
        <p:nvSpPr>
          <p:cNvPr id="5" name="Donut 4"/>
          <p:cNvSpPr>
            <a:spLocks noChangeAspect="1"/>
          </p:cNvSpPr>
          <p:nvPr/>
        </p:nvSpPr>
        <p:spPr>
          <a:xfrm>
            <a:off x="8101452" y="3185902"/>
            <a:ext cx="703840" cy="707027"/>
          </a:xfrm>
          <a:prstGeom prst="donut">
            <a:avLst>
              <a:gd name="adj" fmla="val 826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6200000" flipH="1">
            <a:off x="6052400" y="3429000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7349137" y="3429001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148548" y="2509379"/>
            <a:ext cx="129673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03755" y="2213065"/>
            <a:ext cx="92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21.5 mm</a:t>
            </a:r>
            <a:endParaRPr kumimoji="1" lang="ja-JP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7828988" y="4478983"/>
            <a:ext cx="131501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Beam tube center</a:t>
            </a:r>
            <a:endParaRPr kumimoji="1" lang="ja-JP" altLang="en-US" sz="16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491426" y="2764844"/>
            <a:ext cx="40650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45662" y="2391964"/>
            <a:ext cx="83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10 mm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12431" y="4643058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120mm/520pixel, 0.231 mm/pixel</a:t>
            </a:r>
          </a:p>
          <a:p>
            <a:pPr algn="ctr"/>
            <a:r>
              <a:rPr lang="en-US" dirty="0"/>
              <a:t>Field of view (692pix) = 159.7 mm</a:t>
            </a:r>
          </a:p>
          <a:p>
            <a:pPr algn="ctr"/>
            <a:r>
              <a:rPr lang="en-US" dirty="0"/>
              <a:t>Image right edge = 10.7 mm</a:t>
            </a:r>
          </a:p>
          <a:p>
            <a:pPr algn="ctr"/>
            <a:r>
              <a:rPr lang="en-US" dirty="0"/>
              <a:t>Range: 10.7 – 170.4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5851" y="1994298"/>
            <a:ext cx="99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X=645 pix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60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3/21/2014 CCD camera 2 (downstream, side), no change</a:t>
            </a:r>
            <a:endParaRPr lang="ja-JP" altLang="en-US" dirty="0"/>
          </a:p>
        </p:txBody>
      </p:sp>
      <p:pic>
        <p:nvPicPr>
          <p:cNvPr id="4" name="Picture 3" descr="orientation-tag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48" y="1657074"/>
            <a:ext cx="6276279" cy="46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1934" y="2017315"/>
            <a:ext cx="230063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X=666 pix</a:t>
            </a:r>
          </a:p>
          <a:p>
            <a:r>
              <a:rPr kumimoji="1" lang="en-US" altLang="ja-JP" dirty="0"/>
              <a:t>332.4 mm from center</a:t>
            </a:r>
            <a:endParaRPr kumimoji="1" lang="ja-JP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05148" y="6488668"/>
            <a:ext cx="6536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Data: </a:t>
            </a:r>
            <a:r>
              <a:rPr lang="en-US" sz="1400" dirty="0"/>
              <a:t>Server/5_resources/StagingResources/Staging van </a:t>
            </a:r>
            <a:r>
              <a:rPr lang="en-US" sz="1400" dirty="0" err="1"/>
              <a:t>der</a:t>
            </a:r>
            <a:r>
              <a:rPr lang="en-US" sz="1400" dirty="0"/>
              <a:t> spec calibration</a:t>
            </a:r>
            <a:r>
              <a:rPr kumimoji="1" lang="en-US" altLang="ja-JP" sz="1400" dirty="0"/>
              <a:t>/side cam1</a:t>
            </a:r>
            <a:endParaRPr kumimoji="1" lang="ja-JP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374654" y="4859746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180mm/638pixel, 0.282 mm/pixel</a:t>
            </a:r>
          </a:p>
          <a:p>
            <a:pPr algn="ctr"/>
            <a:r>
              <a:rPr lang="en-US" dirty="0"/>
              <a:t>Field of view = 195.2 mm</a:t>
            </a:r>
          </a:p>
          <a:p>
            <a:pPr algn="ctr"/>
            <a:r>
              <a:rPr lang="en-US" dirty="0"/>
              <a:t>Range: 144.5 – 339.7 mm</a:t>
            </a:r>
          </a:p>
          <a:p>
            <a:pPr algn="ctr"/>
            <a:r>
              <a:rPr lang="en-US" dirty="0"/>
              <a:t>Save ROI: top 180, height 130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6158236" y="3763599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2991" y="1776601"/>
            <a:ext cx="33137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X=91 pix</a:t>
            </a:r>
          </a:p>
          <a:p>
            <a:r>
              <a:rPr kumimoji="1" lang="en-US" altLang="ja-JP" dirty="0"/>
              <a:t>170.2 mm from center of magnet</a:t>
            </a:r>
            <a:endParaRPr kumimoji="1" lang="ja-JP" alt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1508628" y="2616702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88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3/21/2014 CCD camera 3 (upstream, side), no change</a:t>
            </a:r>
            <a:endParaRPr lang="ja-JP" altLang="en-US" dirty="0"/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74" y="1705613"/>
            <a:ext cx="6276279" cy="46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6041" y="1965153"/>
            <a:ext cx="33137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X=668 pix</a:t>
            </a:r>
          </a:p>
          <a:p>
            <a:r>
              <a:rPr kumimoji="1" lang="en-US" altLang="ja-JP" dirty="0"/>
              <a:t>170.2 mm from center of magnet</a:t>
            </a:r>
            <a:endParaRPr kumimoji="1" lang="ja-JP" alt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rot="16200000" flipH="1">
            <a:off x="7166049" y="2801368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70991" y="6488668"/>
            <a:ext cx="6898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Data: </a:t>
            </a:r>
            <a:r>
              <a:rPr lang="en-US" sz="1400" dirty="0"/>
              <a:t>Server/5_resources/StagingResources/Staging van </a:t>
            </a:r>
            <a:r>
              <a:rPr lang="en-US" sz="1400" dirty="0" err="1"/>
              <a:t>der</a:t>
            </a:r>
            <a:r>
              <a:rPr lang="en-US" sz="1400" dirty="0"/>
              <a:t> spec calibration</a:t>
            </a:r>
            <a:r>
              <a:rPr kumimoji="1" lang="en-US" altLang="ja-JP" sz="1400" dirty="0"/>
              <a:t>/side cam2</a:t>
            </a:r>
            <a:endParaRPr kumimoji="1" lang="ja-JP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807" y="4620846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180mm/624pixel, 0.288 mm/pixel</a:t>
            </a:r>
          </a:p>
          <a:p>
            <a:pPr algn="ctr"/>
            <a:r>
              <a:rPr lang="en-US" dirty="0"/>
              <a:t>Field of view = 199.6 mm</a:t>
            </a:r>
          </a:p>
          <a:p>
            <a:pPr algn="ctr"/>
            <a:r>
              <a:rPr lang="en-US" dirty="0"/>
              <a:t>Range: -22.5 – 177.1 mm</a:t>
            </a:r>
          </a:p>
          <a:p>
            <a:pPr algn="ctr"/>
            <a:r>
              <a:rPr lang="en-US" dirty="0"/>
              <a:t>Save ROI: top 184, height 130</a:t>
            </a:r>
          </a:p>
        </p:txBody>
      </p:sp>
    </p:spTree>
    <p:extLst>
      <p:ext uri="{BB962C8B-B14F-4D97-AF65-F5344CB8AC3E}">
        <p14:creationId xmlns:p14="http://schemas.microsoft.com/office/powerpoint/2010/main" val="2946070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3/25/2014 CCD camera 1 (front), changed, calibration is modified.</a:t>
            </a:r>
            <a:endParaRPr lang="ja-JP" altLang="en-US" dirty="0"/>
          </a:p>
        </p:txBody>
      </p:sp>
      <p:pic>
        <p:nvPicPr>
          <p:cNvPr id="4" name="Picture 3" descr="orientation-tagbottom of 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220" y="1479093"/>
            <a:ext cx="6276279" cy="4680000"/>
          </a:xfrm>
          <a:prstGeom prst="rect">
            <a:avLst/>
          </a:prstGeom>
        </p:spPr>
      </p:pic>
      <p:sp>
        <p:nvSpPr>
          <p:cNvPr id="5" name="Donut 4"/>
          <p:cNvSpPr>
            <a:spLocks noChangeAspect="1"/>
          </p:cNvSpPr>
          <p:nvPr/>
        </p:nvSpPr>
        <p:spPr>
          <a:xfrm>
            <a:off x="8101452" y="3185902"/>
            <a:ext cx="703840" cy="707027"/>
          </a:xfrm>
          <a:prstGeom prst="donut">
            <a:avLst>
              <a:gd name="adj" fmla="val 826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6200000" flipH="1">
            <a:off x="6052400" y="3429000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7349137" y="3429001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148548" y="2509379"/>
            <a:ext cx="129673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03755" y="2213065"/>
            <a:ext cx="92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21.5 mm</a:t>
            </a:r>
            <a:endParaRPr kumimoji="1" lang="ja-JP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7828988" y="4478983"/>
            <a:ext cx="131501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Beam tube center</a:t>
            </a:r>
            <a:endParaRPr kumimoji="1" lang="ja-JP" altLang="en-US" sz="16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491426" y="2764844"/>
            <a:ext cx="40650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45662" y="2391964"/>
            <a:ext cx="83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10 mm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1911" y="6420966"/>
            <a:ext cx="6757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Note: image is old</a:t>
            </a:r>
            <a:endParaRPr kumimoji="1" lang="ja-JP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512431" y="4643058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120mm/513pixel, 0.234 mm/pixel</a:t>
            </a:r>
          </a:p>
          <a:p>
            <a:pPr algn="ctr"/>
            <a:r>
              <a:rPr lang="en-US" dirty="0"/>
              <a:t>Field of view (692pix) = 161.9 mm</a:t>
            </a:r>
          </a:p>
          <a:p>
            <a:pPr algn="ctr"/>
            <a:r>
              <a:rPr lang="en-US" dirty="0"/>
              <a:t>Image right edge = 3.25 mm</a:t>
            </a:r>
          </a:p>
          <a:p>
            <a:pPr algn="ctr"/>
            <a:r>
              <a:rPr lang="en-US" dirty="0"/>
              <a:t>Range: 3.25 – 165.2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5851" y="1994298"/>
            <a:ext cx="99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X=614 pix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22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3/25/2014 CCD camera 2 (downstream, side), no change</a:t>
            </a:r>
            <a:endParaRPr lang="ja-JP" altLang="en-US" dirty="0"/>
          </a:p>
        </p:txBody>
      </p:sp>
      <p:pic>
        <p:nvPicPr>
          <p:cNvPr id="4" name="Picture 3" descr="orientation-tag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48" y="1657074"/>
            <a:ext cx="6276279" cy="46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1934" y="2017315"/>
            <a:ext cx="230063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X=666 pix</a:t>
            </a:r>
          </a:p>
          <a:p>
            <a:r>
              <a:rPr kumimoji="1" lang="en-US" altLang="ja-JP" dirty="0"/>
              <a:t>332.4 mm from center</a:t>
            </a:r>
            <a:endParaRPr kumimoji="1" lang="ja-JP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05148" y="6488668"/>
            <a:ext cx="6536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Data: </a:t>
            </a:r>
            <a:r>
              <a:rPr lang="en-US" sz="1400" dirty="0"/>
              <a:t>Server/5_resources/StagingResources/Staging van </a:t>
            </a:r>
            <a:r>
              <a:rPr lang="en-US" sz="1400" dirty="0" err="1"/>
              <a:t>der</a:t>
            </a:r>
            <a:r>
              <a:rPr lang="en-US" sz="1400" dirty="0"/>
              <a:t> spec calibration</a:t>
            </a:r>
            <a:r>
              <a:rPr kumimoji="1" lang="en-US" altLang="ja-JP" sz="1400" dirty="0"/>
              <a:t>/side cam1</a:t>
            </a:r>
            <a:endParaRPr kumimoji="1" lang="ja-JP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374654" y="4859746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180mm/638pixel, 0.282 mm/pixel</a:t>
            </a:r>
          </a:p>
          <a:p>
            <a:pPr algn="ctr"/>
            <a:r>
              <a:rPr lang="en-US" dirty="0"/>
              <a:t>Field of view = 195.2 mm</a:t>
            </a:r>
          </a:p>
          <a:p>
            <a:pPr algn="ctr"/>
            <a:r>
              <a:rPr lang="en-US" dirty="0"/>
              <a:t>Range: 144.5 – 339.7 mm</a:t>
            </a:r>
          </a:p>
          <a:p>
            <a:pPr algn="ctr"/>
            <a:r>
              <a:rPr lang="en-US" dirty="0"/>
              <a:t>Save ROI: top 180, height 130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6158236" y="3763599"/>
            <a:ext cx="2192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2991" y="1776601"/>
            <a:ext cx="33137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X=91 pix</a:t>
            </a:r>
          </a:p>
          <a:p>
            <a:r>
              <a:rPr kumimoji="1" lang="en-US" altLang="ja-JP" dirty="0"/>
              <a:t>170.2 mm from center of magnet</a:t>
            </a:r>
            <a:endParaRPr kumimoji="1" lang="ja-JP" alt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1508628" y="2616702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755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3/25/2014 CCD camera 3 (upstream, side), no change</a:t>
            </a:r>
            <a:endParaRPr lang="ja-JP" altLang="en-US" dirty="0"/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74" y="1705613"/>
            <a:ext cx="6276279" cy="46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6041" y="1965153"/>
            <a:ext cx="33137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X=668 pix</a:t>
            </a:r>
          </a:p>
          <a:p>
            <a:r>
              <a:rPr kumimoji="1" lang="en-US" altLang="ja-JP" dirty="0"/>
              <a:t>170.2 mm from center of magnet</a:t>
            </a:r>
            <a:endParaRPr kumimoji="1" lang="ja-JP" alt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rot="16200000" flipH="1">
            <a:off x="7166049" y="2801368"/>
            <a:ext cx="717361" cy="337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70991" y="6488668"/>
            <a:ext cx="6898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Data: </a:t>
            </a:r>
            <a:r>
              <a:rPr lang="en-US" sz="1400" dirty="0"/>
              <a:t>Server/5_resources/StagingResources/Staging van </a:t>
            </a:r>
            <a:r>
              <a:rPr lang="en-US" sz="1400" dirty="0" err="1"/>
              <a:t>der</a:t>
            </a:r>
            <a:r>
              <a:rPr lang="en-US" sz="1400" dirty="0"/>
              <a:t> spec calibration</a:t>
            </a:r>
            <a:r>
              <a:rPr kumimoji="1" lang="en-US" altLang="ja-JP" sz="1400" dirty="0"/>
              <a:t>/side cam2</a:t>
            </a:r>
            <a:endParaRPr kumimoji="1" lang="ja-JP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807" y="4620846"/>
            <a:ext cx="355382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180mm/624pixel, 0.288 mm/pixel</a:t>
            </a:r>
          </a:p>
          <a:p>
            <a:pPr algn="ctr"/>
            <a:r>
              <a:rPr lang="en-US" dirty="0"/>
              <a:t>Field of view = 199.6 mm</a:t>
            </a:r>
          </a:p>
          <a:p>
            <a:pPr algn="ctr"/>
            <a:r>
              <a:rPr lang="en-US" dirty="0"/>
              <a:t>Range: -22.5 – 177.1 mm</a:t>
            </a:r>
          </a:p>
          <a:p>
            <a:pPr algn="ctr"/>
            <a:r>
              <a:rPr lang="en-US" dirty="0"/>
              <a:t>Save ROI: top 184, height 130</a:t>
            </a:r>
          </a:p>
        </p:txBody>
      </p:sp>
    </p:spTree>
    <p:extLst>
      <p:ext uri="{BB962C8B-B14F-4D97-AF65-F5344CB8AC3E}">
        <p14:creationId xmlns:p14="http://schemas.microsoft.com/office/powerpoint/2010/main" val="1897244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3951</TotalTime>
  <Words>1195</Words>
  <Application>Microsoft Macintosh PowerPoint</Application>
  <PresentationFormat>On-screen Show (4:3)</PresentationFormat>
  <Paragraphs>199</Paragraphs>
  <Slides>22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Equation</vt:lpstr>
      <vt:lpstr>Staging Dutch magnet summary</vt:lpstr>
      <vt:lpstr>Revision</vt:lpstr>
      <vt:lpstr>7/1/2018 CCD camera 1 (front)</vt:lpstr>
      <vt:lpstr>7/1/2018 CCD camera 2 (downstream, side)</vt:lpstr>
      <vt:lpstr>7/1/2018 CCD camera 3 (upstream, side)</vt:lpstr>
      <vt:lpstr>Chamber is 5.7 mm too deep in the yoke</vt:lpstr>
      <vt:lpstr>Beam line and screen wrt the magnet</vt:lpstr>
      <vt:lpstr>Peak field ~1600 mT</vt:lpstr>
      <vt:lpstr>Effective field size 144.4 x 504.4 mm^2</vt:lpstr>
      <vt:lpstr>Archives</vt:lpstr>
      <vt:lpstr>2 GeV, 7.0256 degree, 41 mm</vt:lpstr>
      <vt:lpstr>Staging beam line design</vt:lpstr>
      <vt:lpstr>PowerPoint Presentation</vt:lpstr>
      <vt:lpstr>Front screen momentum-position</vt:lpstr>
      <vt:lpstr>Side screen momentum-position</vt:lpstr>
      <vt:lpstr>E-beam acceptance</vt:lpstr>
      <vt:lpstr>3/21/2014 CCD camera 1 (front), no change was observed.</vt:lpstr>
      <vt:lpstr>3/21/2014 CCD camera 2 (downstream, side), no change</vt:lpstr>
      <vt:lpstr>3/21/2014 CCD camera 3 (upstream, side), no change</vt:lpstr>
      <vt:lpstr>3/25/2014 CCD camera 1 (front), changed, calibration is modified.</vt:lpstr>
      <vt:lpstr>3/25/2014 CCD camera 2 (downstream, side), no change</vt:lpstr>
      <vt:lpstr>3/25/2014 CCD camera 3 (upstream, side), no change</vt:lpstr>
    </vt:vector>
  </TitlesOfParts>
  <Company>LBNL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Deflector magnet for Thunder Experiments</dc:title>
  <dc:creator>Kei Nakamura</dc:creator>
  <cp:lastModifiedBy>Microsoft Office User</cp:lastModifiedBy>
  <cp:revision>90</cp:revision>
  <cp:lastPrinted>2013-01-08T01:58:52Z</cp:lastPrinted>
  <dcterms:created xsi:type="dcterms:W3CDTF">2012-04-26T20:51:24Z</dcterms:created>
  <dcterms:modified xsi:type="dcterms:W3CDTF">2026-08-25T21:25:23Z</dcterms:modified>
</cp:coreProperties>
</file>